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slide" Target="slides/slide13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 background" descr="Hooded hacker at a desk with glowing security ic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Scan line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B4FF">
              <a:alpha val="5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4" name="Tag"/>
          <p:cNvSpPr txBox="1"/>
          <p:nvPr/>
        </p:nvSpPr>
        <p:spPr>
          <a:xfrm>
            <a:off x="548640" y="50292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300" b="1" dirty="0">
                <a:solidFill>
                  <a:srgbClr val="25B4FF"/>
                </a:solidFill>
                <a:latin typeface="Courier New"/>
                <a:cs typeface="Courier New"/>
              </a:rPr>
              <a:t>AUTHORIZED LOCAL LAB   |   KALI LINUX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548640" y="91440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ETHICAL HACKING</a:t>
            </a:r>
          </a:p>
        </p:txBody>
      </p:sp>
      <p:sp>
        <p:nvSpPr>
          <p:cNvPr id="6" name="Title 2"/>
          <p:cNvSpPr txBox="1"/>
          <p:nvPr/>
        </p:nvSpPr>
        <p:spPr>
          <a:xfrm>
            <a:off x="548640" y="164592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8000" b="1" dirty="0">
                <a:solidFill>
                  <a:srgbClr val="FFD21E"/>
                </a:solidFill>
                <a:latin typeface="Arial"/>
                <a:cs typeface="Arial"/>
              </a:rPr>
              <a:t>VAPT LAB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48640" y="2999232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800" b="0" dirty="0">
                <a:solidFill>
                  <a:srgbClr val="DBE7FB"/>
                </a:solidFill>
                <a:latin typeface="Arial"/>
                <a:cs typeface="Arial"/>
              </a:rPr>
              <a:t>Vulnerability Assessment &amp; Penetration Testing</a:t>
            </a:r>
          </a:p>
          <a:p>
            <a:pPr algn="l"/>
            <a:r>
              <a:rPr lang="en-US" sz="1400" b="0" dirty="0">
                <a:solidFill>
                  <a:srgbClr val="8FA6C8"/>
                </a:solidFill>
                <a:latin typeface="Arial"/>
                <a:cs typeface="Arial"/>
              </a:rPr>
              <a:t>Evidence-based practical project</a:t>
            </a:r>
          </a:p>
        </p:txBody>
      </p:sp>
      <p:sp>
        <p:nvSpPr>
          <p:cNvPr id="8" name="Terminal"/>
          <p:cNvSpPr/>
          <p:nvPr/>
        </p:nvSpPr>
        <p:spPr>
          <a:xfrm>
            <a:off x="548640" y="379476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07142E">
              <a:alpha val="92000"/>
            </a:srgbClr>
          </a:solidFill>
          <a:ln w="15875">
            <a:solidFill>
              <a:srgbClr val="25B4FF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9" name="Term line 1"/>
          <p:cNvSpPr txBox="1"/>
          <p:nvPr/>
        </p:nvSpPr>
        <p:spPr>
          <a:xfrm>
            <a:off x="777240" y="39136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300" b="0" dirty="0">
                <a:solidFill>
                  <a:srgbClr val="8FE3FF"/>
                </a:solidFill>
                <a:latin typeface="Courier New"/>
                <a:cs typeface="Courier New"/>
              </a:rPr>
              <a:t>$ nmap -sV -p 8000 127.0.0.1</a:t>
            </a:r>
          </a:p>
        </p:txBody>
      </p:sp>
      <p:sp>
        <p:nvSpPr>
          <p:cNvPr id="10" name="Term line 2"/>
          <p:cNvSpPr txBox="1"/>
          <p:nvPr/>
        </p:nvSpPr>
        <p:spPr>
          <a:xfrm>
            <a:off x="777240" y="418795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300" b="0" dirty="0">
                <a:solidFill>
                  <a:srgbClr val="8FE3FF"/>
                </a:solidFill>
                <a:latin typeface="Courier New"/>
                <a:cs typeface="Courier New"/>
              </a:rPr>
              <a:t>  8000/tcp open   SimpleHTTP/0.6</a:t>
            </a:r>
          </a:p>
        </p:txBody>
      </p:sp>
      <p:sp>
        <p:nvSpPr>
          <p:cNvPr id="11" name="Term line 3"/>
          <p:cNvSpPr txBox="1"/>
          <p:nvPr/>
        </p:nvSpPr>
        <p:spPr>
          <a:xfrm>
            <a:off x="777240" y="44622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300" b="0" dirty="0">
                <a:solidFill>
                  <a:srgbClr val="8FE3FF"/>
                </a:solidFill>
                <a:latin typeface="Courier New"/>
                <a:cs typeface="Courier New"/>
              </a:rPr>
              <a:t>$ curl http://127.0.0.1:8000</a:t>
            </a:r>
          </a:p>
        </p:txBody>
      </p:sp>
      <p:sp>
        <p:nvSpPr>
          <p:cNvPr id="12" name="Term line 4"/>
          <p:cNvSpPr txBox="1"/>
          <p:nvPr/>
        </p:nvSpPr>
        <p:spPr>
          <a:xfrm>
            <a:off x="777240" y="47365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300" b="0" dirty="0">
                <a:solidFill>
                  <a:srgbClr val="FF6B6B"/>
                </a:solidFill>
                <a:latin typeface="Courier New"/>
                <a:cs typeface="Courier New"/>
              </a:rPr>
              <a:t>  [!] .ssh/  .gnupg/  Documents/ ...</a:t>
            </a:r>
          </a:p>
        </p:txBody>
      </p:sp>
      <p:sp>
        <p:nvSpPr>
          <p:cNvPr id="13" name="Hook"/>
          <p:cNvSpPr txBox="1"/>
          <p:nvPr/>
        </p:nvSpPr>
        <p:spPr>
          <a:xfrm>
            <a:off x="548640" y="53218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400" b="1" dirty="0">
                <a:solidFill>
                  <a:srgbClr val="FFD21E"/>
                </a:solidFill>
                <a:latin typeface="Arial"/>
                <a:cs typeface="Arial"/>
              </a:rPr>
              <a:t>A tiny Python server exposed private folders. What went wrong?</a:t>
            </a:r>
          </a:p>
        </p:txBody>
      </p:sp>
      <p:sp>
        <p:nvSpPr>
          <p:cNvPr id="14" name="Name chip"/>
          <p:cNvSpPr txBox="1"/>
          <p:nvPr/>
        </p:nvSpPr>
        <p:spPr>
          <a:xfrm>
            <a:off x="548640" y="5806440"/>
            <a:ext cx="5669280" cy="594360"/>
          </a:xfrm>
          <a:prstGeom prst="roundRect">
            <a:avLst>
              <a:gd name="adj" fmla="val 30000"/>
            </a:avLst>
          </a:prstGeom>
          <a:solidFill>
            <a:srgbClr val="FFD21E"/>
          </a:solidFill>
          <a:ln>
            <a:noFill/>
          </a:ln>
        </p:spPr>
        <p:txBody>
          <a:bodyPr wrap="square" lIns="274320" tIns="0" rIns="182880" bIns="0" anchor="ctr" rtlCol="0">
            <a:noAutofit/>
          </a:bodyPr>
          <a:lstStyle/>
          <a:p>
            <a:pPr algn="l"/>
            <a:r>
              <a:rPr lang="en-US" sz="1800" b="1" dirty="0">
                <a:solidFill>
                  <a:srgbClr val="111111"/>
                </a:solidFill>
                <a:latin typeface="Arial"/>
                <a:cs typeface="Arial"/>
              </a:rPr>
              <a:t>Rohan Yethekar</a:t>
            </a:r>
            <a:r>
              <a:rPr lang="en-US" sz="1200" b="0" dirty="0">
                <a:solidFill>
                  <a:srgbClr val="111111"/>
                </a:solidFill>
                <a:latin typeface="Arial"/>
                <a:cs typeface="Arial"/>
              </a:rPr>
              <a:t>     Kali Linux lab  |  127.0.0.1:8000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14000" autoRev="1" repeatCount="indefinite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4500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1.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What was tested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Learn and demonstrate a basic VAPT workflow using a controlled Kali Linux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Local host / localhost services created by the learner for authorized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18288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Network identification → connectivity → port discovery → service enumeration → finding → remediation → retest.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No unauthorized external target was used.</a:t>
            </a:r>
          </a:p>
          <a:p>
            <a:pPr>
              <a:spcAft>
                <a:spcPts val="10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Evidence in this presentation comes from the uploaded Kali terminal photos.</a:t>
            </a:r>
          </a:p>
          <a:p>
            <a:pPr>
              <a:spcAft>
                <a:spcPts val="10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Screenshots are presented as practical evidence, not fabricated mockups.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2. Network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IP address, gateway and interface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6492240" cy="489204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99032"/>
            <a:ext cx="6345936" cy="4544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5961888"/>
            <a:ext cx="62727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ip route / ping / ip addr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417320"/>
            <a:ext cx="4160520" cy="11430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64008" cy="114300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58191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Kali IPv4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011680"/>
            <a:ext cx="3794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10.0.2.15/24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43200"/>
            <a:ext cx="4160520" cy="11430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743200"/>
            <a:ext cx="64008" cy="114300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90779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Default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337560"/>
            <a:ext cx="37947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10.0.2.2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069080"/>
            <a:ext cx="416052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069080"/>
            <a:ext cx="64008" cy="141732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423367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Interface / 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663440"/>
            <a:ext cx="3794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eth0
08:00:27:8a:35:d2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3. Connectivity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Gateway and Internet reachability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629400" cy="489204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1399032"/>
            <a:ext cx="6483096" cy="4544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5961888"/>
            <a:ext cx="64099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ping -c 4 10.0.2.2 and ping -c 4 8.8.8.8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3977639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417320"/>
            <a:ext cx="64008" cy="141732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581912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Gateway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01168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4/4 replies • 0% packet loss
Avg ≈ 1.712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154680"/>
            <a:ext cx="3977639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154680"/>
            <a:ext cx="64008" cy="141732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3319272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Internet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37490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4/4 replies • 0% packet loss
Avg ≈ 77.973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9834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BF1F7"/>
                </a:solidFill>
                <a:latin typeface="Aptos"/>
              </a:defRPr>
            </a:pPr>
            <a:r>
              <a:t>Result: network connectivity was working before the security testing 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4. Port Discovery &amp; Local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Checking listening services in the controlled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6583680" cy="502920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53312"/>
            <a:ext cx="6437376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6053328"/>
            <a:ext cx="63642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ss -tuln + python3 -m http.server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71600"/>
            <a:ext cx="4160520" cy="1280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371600"/>
            <a:ext cx="64008" cy="128016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53619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Initial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965960"/>
            <a:ext cx="379475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ss -tuln showed no listening port in the first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26080"/>
            <a:ext cx="4160520" cy="1280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64008" cy="128016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309067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Lab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520440"/>
            <a:ext cx="379475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Python HTTP server started on TCP port 8000.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480560"/>
            <a:ext cx="4160520" cy="1280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480560"/>
            <a:ext cx="64008" cy="128016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4645152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5074920"/>
            <a:ext cx="379475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Created only to practice authorized port/service enumeration.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5. Nmap Service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Identifying the service and version on the lab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629400" cy="507492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07592"/>
            <a:ext cx="6483096" cy="4727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6053328"/>
            <a:ext cx="64099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curl + nmap -sV -p 8000 127.0.0.1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4069080" cy="12344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417320"/>
            <a:ext cx="64008" cy="123444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581912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01168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127.0.0.1 (localhost)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880360"/>
            <a:ext cx="4069080" cy="12344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2880360"/>
            <a:ext cx="64008" cy="123444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3044952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347472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8000/tcp • 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343400"/>
            <a:ext cx="4069080" cy="14630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343400"/>
            <a:ext cx="64008" cy="146304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4507992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Detected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493776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HTTP
SimpleHTTPServer 0.6
Python 3.13.12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6. Finding: Directory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The initial HTTP server exposed the home-directory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6903720" cy="525780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216152"/>
            <a:ext cx="6757416" cy="4910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144768"/>
            <a:ext cx="66842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directory listing returned many home-directory entries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280160"/>
            <a:ext cx="3886200" cy="12344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280160"/>
            <a:ext cx="64008" cy="123444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444751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6363"/>
                </a:solidFill>
                <a:latin typeface="Aptos"/>
              </a:rPr>
              <a:t>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8745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Directory listing exposed entries beyond the intended web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743200"/>
            <a:ext cx="3886200" cy="132588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743200"/>
            <a:ext cx="64008" cy="132588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2907792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Security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337560"/>
            <a:ext cx="3520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Could reveal filenames, hidden directories or configuration-related paths depending on deployment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88620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64008" cy="141732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4507992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93776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Observed in a local lab. This is evidence of exposure, not proof of compromise.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7.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Move the service into a dedicated lab directory and bind it to localhost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6903720" cy="507492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6757416" cy="4727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053328"/>
            <a:ext cx="66842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~/VAPT_Lab/web + index.html + --bind 127.0.0.1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BF1F7"/>
                </a:solidFill>
                <a:latin typeface="Aptos"/>
              </a:defRPr>
            </a:pPr>
            <a:r>
              <a:t>Created: ~/VAPT_Lab/web</a:t>
            </a:r>
          </a:p>
          <a:p>
            <a:pPr>
              <a:spcAft>
                <a:spcPts val="1000"/>
              </a:spcAft>
              <a:defRPr sz="1500">
                <a:solidFill>
                  <a:srgbClr val="EBF1F7"/>
                </a:solidFill>
                <a:latin typeface="Aptos"/>
              </a:defRPr>
            </a:pPr>
            <a:r>
              <a:t>Added a dedicated index.html containing only the lab message.</a:t>
            </a:r>
          </a:p>
          <a:p>
            <a:pPr>
              <a:spcAft>
                <a:spcPts val="1000"/>
              </a:spcAft>
              <a:defRPr sz="1500">
                <a:solidFill>
                  <a:srgbClr val="EBF1F7"/>
                </a:solidFill>
                <a:latin typeface="Aptos"/>
              </a:defRPr>
            </a:pPr>
            <a:r>
              <a:t>Restarted the HTTP server with --bind 127.0.0.1.</a:t>
            </a:r>
          </a:p>
          <a:p>
            <a:pPr>
              <a:spcAft>
                <a:spcPts val="1000"/>
              </a:spcAft>
              <a:defRPr sz="1500">
                <a:solidFill>
                  <a:srgbClr val="EBF1F7"/>
                </a:solidFill>
                <a:latin typeface="Aptos"/>
              </a:defRPr>
            </a:pPr>
            <a:r>
              <a:t>This removes the earlier home-directory exposure from the served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4892040"/>
            <a:ext cx="3886200" cy="91440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4892040"/>
            <a:ext cx="64008" cy="91440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5056631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Remediation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548640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Applied successfully in the controlled lab.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8. Retest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Confirming the remediated service is still available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6903720" cy="5074920"/>
          </a:xfrm>
          <a:prstGeom prst="roundRect">
            <a:avLst/>
          </a:prstGeom>
          <a:solidFill>
            <a:srgbClr val="121922"/>
          </a:solidFill>
          <a:ln>
            <a:solidFill>
              <a:srgbClr val="32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07592"/>
            <a:ext cx="6757416" cy="4727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053328"/>
            <a:ext cx="668426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5B2BE"/>
                </a:solidFill>
                <a:latin typeface="Aptos"/>
              </a:rPr>
              <a:t>Evidence: post-remediation server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71600"/>
            <a:ext cx="3886200" cy="12344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64008" cy="123444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536192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965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HTTP server running on 127.0.0.1:8000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834640"/>
            <a:ext cx="3886200" cy="123444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834640"/>
            <a:ext cx="64008" cy="123444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2999232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Expected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4290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The lab service remains reachable locally for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297680"/>
            <a:ext cx="388620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297680"/>
            <a:ext cx="64008" cy="141732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4462272"/>
            <a:ext cx="3520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Retest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89204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The evidence confirms the service was restarted with the localhost bind. The earlier home-directory content was no longer the intended serving location.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9. Evidence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Selected screenshots from the uploaded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pt_evidenc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1508760" cy="1170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3990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Network setup</a:t>
            </a:r>
          </a:p>
          <a:p>
            <a:r>
              <a:rPr sz="1100">
                <a:solidFill>
                  <a:srgbClr val="EBF1F7"/>
                </a:solidFill>
              </a:rPr>
              <a:t>IP route, gateway, ping, ip addr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pt_evidence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44168"/>
            <a:ext cx="1508760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13990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Port/service setup</a:t>
            </a:r>
          </a:p>
          <a:p>
            <a:r>
              <a:rPr sz="1100">
                <a:solidFill>
                  <a:srgbClr val="EBF1F7"/>
                </a:solidFill>
              </a:rPr>
              <a:t>ss -tuln and HTTP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2608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apt_evidence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035808"/>
            <a:ext cx="1508760" cy="1170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7440" y="309067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Enumeration</a:t>
            </a:r>
          </a:p>
          <a:p>
            <a:r>
              <a:rPr sz="1100">
                <a:solidFill>
                  <a:srgbClr val="EBF1F7"/>
                </a:solidFill>
              </a:rPr>
              <a:t>Nmap service/version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apt_evidence_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035808"/>
            <a:ext cx="1508760" cy="1170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309067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Finding</a:t>
            </a:r>
          </a:p>
          <a:p>
            <a:r>
              <a:rPr sz="1100">
                <a:solidFill>
                  <a:srgbClr val="EBF1F7"/>
                </a:solidFill>
              </a:rPr>
              <a:t>Initial directory listing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1772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apt_evidence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727448"/>
            <a:ext cx="1508760" cy="1170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77440" y="478231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Remediation</a:t>
            </a:r>
          </a:p>
          <a:p>
            <a:r>
              <a:rPr sz="1100">
                <a:solidFill>
                  <a:srgbClr val="EBF1F7"/>
                </a:solidFill>
              </a:rPr>
              <a:t>Dedicated VAPT_Lab/web + localhost bind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17720"/>
            <a:ext cx="5212080" cy="141732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apt_evidence_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4727448"/>
            <a:ext cx="1508760" cy="11704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01000" y="478231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9C5FF"/>
                </a:solidFill>
              </a:rPr>
              <a:t>Retest</a:t>
            </a:r>
          </a:p>
          <a:p>
            <a:r>
              <a:rPr sz="1100">
                <a:solidFill>
                  <a:srgbClr val="EBF1F7"/>
                </a:solidFill>
              </a:rPr>
              <a:t>Post-remediation HTTP 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10. Findings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Evidence → impact →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3566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6363"/>
                </a:solidFill>
                <a:latin typeface="Aptos"/>
              </a:rPr>
              <a:t>Finding 01 — Directory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30632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Evidence: initial HTTP server served a directory listing containing home-directory entries.
Impact: information disclosure risk in a real deployment.
Remediation: serve only a dedicated lab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3566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FF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8"/>
                </a:solidFill>
                <a:latin typeface="Aptos"/>
              </a:rPr>
              <a:t>Observation — Service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30632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Nmap identified SimpleHTTPServer 0.6 / Python 3.13.12.
Impact: version disclosure can provide useful context to an attacker, but is not by itself proof of a vulnerability.
Next step: minimize unnecessary banner disclosure in production.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35661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64008" cy="3566160"/>
          </a:xfrm>
          <a:prstGeom prst="rect">
            <a:avLst/>
          </a:prstGeom>
          <a:solidFill>
            <a:srgbClr val="5B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DC91"/>
                </a:solidFill>
                <a:latin typeface="Aptos"/>
              </a:rPr>
              <a:t>Retest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20240"/>
            <a:ext cx="30632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The service was restarted using a dedicated VAPT_Lab/web directory and bound to 127.0.0.1.
Result: the intended local lab service remained available after remediation.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7"/>
                </a:solidFill>
                <a:latin typeface="Aptos Display"/>
              </a:rPr>
              <a:t>11. Conclusion &amp; Interview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5B2BE"/>
                </a:solidFill>
                <a:latin typeface="Aptos"/>
              </a:rPr>
              <a:t>A concise way to explain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BF1F7"/>
                </a:solidFill>
                <a:latin typeface="Aptos"/>
              </a:defRPr>
            </a:pPr>
            <a:r>
              <a:t>“I performed a controlled VAPT lab on localhost using Kali Linux.”</a:t>
            </a:r>
          </a:p>
          <a:p>
            <a:pPr>
              <a:spcAft>
                <a:spcPts val="1000"/>
              </a:spcAft>
              <a:defRPr sz="1700">
                <a:solidFill>
                  <a:srgbClr val="EBF1F7"/>
                </a:solidFill>
                <a:latin typeface="Aptos"/>
              </a:defRPr>
            </a:pPr>
            <a:r>
              <a:t>“I identified the local IP and gateway, verified connectivity, checked listening ports, and used Nmap for service enumeration.”</a:t>
            </a:r>
          </a:p>
          <a:p>
            <a:pPr>
              <a:spcAft>
                <a:spcPts val="1000"/>
              </a:spcAft>
              <a:defRPr sz="1700">
                <a:solidFill>
                  <a:srgbClr val="EBF1F7"/>
                </a:solidFill>
                <a:latin typeface="Aptos"/>
              </a:defRPr>
            </a:pPr>
            <a:r>
              <a:t>“I observed a directory exposure in the initial HTTP setup, documented the evidence, moved the content into a dedicated lab directory, and rebound the server to localhost.”</a:t>
            </a:r>
          </a:p>
          <a:p>
            <a:pPr>
              <a:spcAft>
                <a:spcPts val="1000"/>
              </a:spcAft>
              <a:defRPr sz="1700">
                <a:solidFill>
                  <a:srgbClr val="EBF1F7"/>
                </a:solidFill>
                <a:latin typeface="Aptos"/>
              </a:defRPr>
            </a:pPr>
            <a:r>
              <a:t>“I then retested the service to verify that the intended lab service was still working.”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515600" cy="822960"/>
          </a:xfrm>
          <a:prstGeom prst="roundRect">
            <a:avLst/>
          </a:prstGeom>
          <a:solidFill>
            <a:srgbClr val="121922"/>
          </a:solidFill>
          <a:ln>
            <a:solidFill>
              <a:srgbClr val="2D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074920"/>
            <a:ext cx="64008" cy="822960"/>
          </a:xfrm>
          <a:prstGeom prst="rect">
            <a:avLst/>
          </a:prstGeom>
          <a:solidFill>
            <a:srgbClr val="49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5239512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9C5FF"/>
                </a:solidFill>
                <a:latin typeface="Aptos"/>
              </a:rP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5669280"/>
            <a:ext cx="101498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BF1F7"/>
                </a:solidFill>
                <a:latin typeface="Aptos"/>
              </a:rPr>
              <a:t>Hands-on practice of a basic VAPT lifecycle: Recon → Enumeration → Finding → Remediation → Retest.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2D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2BE"/>
                </a:solidFill>
                <a:latin typeface="Aptos"/>
              </a:rPr>
              <a:t>Ethical Hacking – VAPT Security Assessment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2BE"/>
                </a:solidFill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low"/>
          <p:cNvSpPr/>
          <p:nvPr/>
        </p:nvSpPr>
        <p:spPr>
          <a:xfrm>
            <a:off x="5943600" y="457200"/>
            <a:ext cx="6309360" cy="6309360"/>
          </a:xfrm>
          <a:prstGeom prst="ellipse">
            <a:avLst/>
          </a:prstGeom>
          <a:solidFill>
            <a:srgbClr val="0B2A5C">
              <a:alpha val="60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3" name="Ring outer"/>
          <p:cNvSpPr/>
          <p:nvPr/>
        </p:nvSpPr>
        <p:spPr>
          <a:xfrm>
            <a:off x="6126480" y="640080"/>
            <a:ext cx="5943600" cy="5943600"/>
          </a:xfrm>
          <a:prstGeom prst="ellipse">
            <a:avLst/>
          </a:prstGeom>
          <a:noFill/>
          <a:ln w="15875">
            <a:solidFill>
              <a:srgbClr val="25B4FF"/>
            </a:solidFill>
            <a:prstDash val="dash"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4" name="Ring inner"/>
          <p:cNvSpPr/>
          <p:nvPr/>
        </p:nvSpPr>
        <p:spPr>
          <a:xfrm>
            <a:off x="6583680" y="1097280"/>
            <a:ext cx="5029200" cy="5029200"/>
          </a:xfrm>
          <a:prstGeom prst="ellipse">
            <a:avLst/>
          </a:prstGeom>
          <a:noFill/>
          <a:ln w="12700">
            <a:solidFill>
              <a:srgbClr val="1B6FA8"/>
            </a:solidFill>
            <a:prstDash val="sysDash"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5" name="Scan line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B4FF">
              <a:alpha val="5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6" name="Tag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300" b="1" dirty="0">
                <a:solidFill>
                  <a:srgbClr val="25B4FF"/>
                </a:solidFill>
                <a:latin typeface="Courier New"/>
                <a:cs typeface="Courier New"/>
              </a:rPr>
              <a:t>SESSION COMPLETE   |   VAPT LAB</a:t>
            </a:r>
          </a:p>
        </p:txBody>
      </p:sp>
      <p:sp>
        <p:nvSpPr>
          <p:cNvPr id="7" name="Thanks"/>
          <p:cNvSpPr txBox="1"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6400" b="1" dirty="0">
                <a:solidFill>
                  <a:srgbClr val="FFFFFF"/>
                </a:solidFill>
                <a:latin typeface="Arial"/>
                <a:cs typeface="Arial"/>
              </a:rPr>
              <a:t>THANK YOU</a:t>
            </a:r>
          </a:p>
        </p:txBody>
      </p:sp>
      <p:sp>
        <p:nvSpPr>
          <p:cNvPr id="8" name="Questions"/>
          <p:cNvSpPr txBox="1"/>
          <p:nvPr/>
        </p:nvSpPr>
        <p:spPr>
          <a:xfrm>
            <a:off x="548640" y="19659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3600" b="1" dirty="0">
                <a:solidFill>
                  <a:srgbClr val="FFD21E"/>
                </a:solidFill>
                <a:latin typeface="Arial"/>
                <a:cs typeface="Arial"/>
              </a:rPr>
              <a:t>Any questions?</a:t>
            </a:r>
          </a:p>
        </p:txBody>
      </p:sp>
      <p:sp>
        <p:nvSpPr>
          <p:cNvPr id="9" name="Card 1"/>
          <p:cNvSpPr txBox="1"/>
          <p:nvPr/>
        </p:nvSpPr>
        <p:spPr>
          <a:xfrm>
            <a:off x="548640" y="3017520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0E1D3B"/>
          </a:solidFill>
          <a:ln w="12700">
            <a:solidFill>
              <a:srgbClr val="25497E"/>
            </a:solidFill>
          </a:ln>
        </p:spPr>
        <p:txBody>
          <a:bodyPr wrap="square" lIns="228600" tIns="0" rIns="137160" bIns="0" anchor="ctr" rtlCol="0">
            <a:noAutofit/>
          </a:bodyPr>
          <a:lstStyle/>
          <a:p>
            <a:pPr algn="l"/>
            <a:r>
              <a:rPr lang="en-US" sz="1600" b="1" dirty="0">
                <a:solidFill>
                  <a:srgbClr val="FF6B6B"/>
                </a:solidFill>
                <a:latin typeface="Arial"/>
                <a:cs typeface="Arial"/>
              </a:rPr>
              <a:t>Found  </a:t>
            </a:r>
            <a:r>
              <a:rPr lang="en-US" sz="1300" b="0" dirty="0">
                <a:solidFill>
                  <a:srgbClr val="DBE7FB"/>
                </a:solidFill>
                <a:latin typeface="Arial"/>
                <a:cs typeface="Arial"/>
              </a:rPr>
              <a:t>Directory listing exposed home folders</a:t>
            </a:r>
          </a:p>
        </p:txBody>
      </p:sp>
      <p:sp>
        <p:nvSpPr>
          <p:cNvPr id="10" name="Card 2"/>
          <p:cNvSpPr txBox="1"/>
          <p:nvPr/>
        </p:nvSpPr>
        <p:spPr>
          <a:xfrm>
            <a:off x="548640" y="3886200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0E1D3B"/>
          </a:solidFill>
          <a:ln w="12700">
            <a:solidFill>
              <a:srgbClr val="25497E"/>
            </a:solidFill>
          </a:ln>
        </p:spPr>
        <p:txBody>
          <a:bodyPr wrap="square" lIns="228600" tIns="0" rIns="137160" bIns="0" anchor="ctr" rtlCol="0">
            <a:noAutofit/>
          </a:bodyPr>
          <a:lstStyle/>
          <a:p>
            <a:pPr algn="l"/>
            <a:r>
              <a:rPr lang="en-US" sz="1600" b="1" dirty="0">
                <a:solidFill>
                  <a:srgbClr val="FFD21E"/>
                </a:solidFill>
                <a:latin typeface="Arial"/>
                <a:cs typeface="Arial"/>
              </a:rPr>
              <a:t>Fixed  </a:t>
            </a:r>
            <a:r>
              <a:rPr lang="en-US" sz="1300" b="0" dirty="0">
                <a:solidFill>
                  <a:srgbClr val="DBE7FB"/>
                </a:solidFill>
                <a:latin typeface="Arial"/>
                <a:cs typeface="Arial"/>
              </a:rPr>
              <a:t>Dedicated ~/VAPT_Lab/web + --bind 127.0.0.1</a:t>
            </a:r>
          </a:p>
        </p:txBody>
      </p:sp>
      <p:sp>
        <p:nvSpPr>
          <p:cNvPr id="11" name="Card 3"/>
          <p:cNvSpPr txBox="1"/>
          <p:nvPr/>
        </p:nvSpPr>
        <p:spPr>
          <a:xfrm>
            <a:off x="548640" y="4754880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0E1D3B"/>
          </a:solidFill>
          <a:ln w="12700">
            <a:solidFill>
              <a:srgbClr val="25497E"/>
            </a:solidFill>
          </a:ln>
        </p:spPr>
        <p:txBody>
          <a:bodyPr wrap="square" lIns="228600" tIns="0" rIns="137160" bIns="0" anchor="ctr" rtlCol="0">
            <a:noAutofit/>
          </a:bodyPr>
          <a:lstStyle/>
          <a:p>
            <a:pPr algn="l"/>
            <a:r>
              <a:rPr lang="en-US" sz="1600" b="1" dirty="0">
                <a:solidFill>
                  <a:srgbClr val="6DFFA8"/>
                </a:solidFill>
                <a:latin typeface="Arial"/>
                <a:cs typeface="Arial"/>
              </a:rPr>
              <a:t>Verified  </a:t>
            </a:r>
            <a:r>
              <a:rPr lang="en-US" sz="1300" b="0" dirty="0">
                <a:solidFill>
                  <a:srgbClr val="DBE7FB"/>
                </a:solidFill>
                <a:latin typeface="Arial"/>
                <a:cs typeface="Arial"/>
              </a:rPr>
              <a:t>Retest confirmed the service stays available</a:t>
            </a:r>
          </a:p>
        </p:txBody>
      </p:sp>
      <p:sp>
        <p:nvSpPr>
          <p:cNvPr id="12" name="Name chip"/>
          <p:cNvSpPr txBox="1"/>
          <p:nvPr/>
        </p:nvSpPr>
        <p:spPr>
          <a:xfrm>
            <a:off x="548640" y="5806440"/>
            <a:ext cx="5120640" cy="594360"/>
          </a:xfrm>
          <a:prstGeom prst="roundRect">
            <a:avLst>
              <a:gd name="adj" fmla="val 30000"/>
            </a:avLst>
          </a:prstGeom>
          <a:solidFill>
            <a:srgbClr val="FFD21E"/>
          </a:solidFill>
          <a:ln>
            <a:noFill/>
          </a:ln>
        </p:spPr>
        <p:txBody>
          <a:bodyPr wrap="square" lIns="274320" tIns="0" rIns="182880" bIns="0" anchor="ctr" rtlCol="0">
            <a:noAutofit/>
          </a:bodyPr>
          <a:lstStyle/>
          <a:p>
            <a:pPr algn="l"/>
            <a:r>
              <a:rPr lang="en-US" sz="1800" b="1" dirty="0">
                <a:solidFill>
                  <a:srgbClr val="111111"/>
                </a:solidFill>
                <a:latin typeface="Arial"/>
                <a:cs typeface="Arial"/>
              </a:rPr>
              <a:t>Rohan Yethekar</a:t>
            </a:r>
            <a:r>
              <a:rPr lang="en-US" sz="1200" b="0" dirty="0">
                <a:solidFill>
                  <a:srgbClr val="111111"/>
                </a:solidFill>
                <a:latin typeface="Arial"/>
                <a:cs typeface="Arial"/>
              </a:rPr>
              <a:t>     Ethical Hacking | VAPT</a:t>
            </a:r>
          </a:p>
        </p:txBody>
      </p:sp>
      <p:pic>
        <p:nvPicPr>
          <p:cNvPr id="13" name="Closing photo" descr="Ethical hacking and penetration testing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080760" y="1554480"/>
            <a:ext cx="5669280" cy="3191256"/>
          </a:xfrm>
          <a:prstGeom prst="roundRect">
            <a:avLst>
              <a:gd name="adj" fmla="val 3000"/>
            </a:avLst>
          </a:prstGeom>
          <a:ln w="31750">
            <a:solidFill>
              <a:srgbClr val="25B4FF"/>
            </a:solidFill>
          </a:ln>
          <a:effectLst>
            <a:outerShdw blurRad="228600" dist="63500" dir="5400000" algn="t" rotWithShape="0">
              <a:srgbClr val="25B4FF">
                <a:alpha val="40000"/>
              </a:srgbClr>
            </a:outerShdw>
          </a:effectLst>
        </p:spPr>
      </p:pic>
      <p:sp>
        <p:nvSpPr>
          <p:cNvPr id="14" name="Caption"/>
          <p:cNvSpPr txBox="1"/>
          <p:nvPr/>
        </p:nvSpPr>
        <p:spPr>
          <a:xfrm>
            <a:off x="6080760" y="49377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600" b="1" dirty="0">
                <a:solidFill>
                  <a:srgbClr val="FFD21E"/>
                </a:solidFill>
                <a:latin typeface="Arial"/>
                <a:cs typeface="Arial"/>
              </a:rPr>
              <a:t>Test only what you are authorized to test.</a:t>
            </a:r>
          </a:p>
          <a:p>
            <a:pPr algn="ctr"/>
            <a:r>
              <a:rPr lang="en-US" sz="1300" b="0" dirty="0">
                <a:solidFill>
                  <a:srgbClr val="DBE7FB"/>
                </a:solidFill>
                <a:latin typeface="Arial"/>
                <a:cs typeface="Arial"/>
              </a:rPr>
              <a:t>Learn the weaknesses. Protect the system.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4500" repeatCount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